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5" name="Shape 3"/>
          <p:cNvSpPr/>
          <p:nvPr/>
        </p:nvSpPr>
        <p:spPr>
          <a:xfrm>
            <a:off x="859536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0" name="Shape 8"/>
          <p:cNvSpPr/>
          <p:nvPr/>
        </p:nvSpPr>
        <p:spPr>
          <a:xfrm>
            <a:off x="909828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1" name="Shape 9"/>
          <p:cNvSpPr/>
          <p:nvPr/>
        </p:nvSpPr>
        <p:spPr>
          <a:xfrm>
            <a:off x="909828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09828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09828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909828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909828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828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960120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960120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0412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0412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0412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412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0412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10412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10412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0412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0704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0704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0704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0704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60704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0704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0704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0704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0996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0996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0996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5" name="Shape 43"/>
          <p:cNvSpPr/>
          <p:nvPr/>
        </p:nvSpPr>
        <p:spPr>
          <a:xfrm>
            <a:off x="1110996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10996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0996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0996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10996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50" name="Text 48"/>
          <p:cNvSpPr/>
          <p:nvPr/>
        </p:nvSpPr>
        <p:spPr>
          <a:xfrm>
            <a:off x="548640" y="15544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5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C++ }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548640" y="210312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C++ Interview Questions</a:t>
            </a:r>
            <a:endParaRPr lang="en-US" sz="4400" dirty="0"/>
          </a:p>
        </p:txBody>
      </p:sp>
      <p:sp>
        <p:nvSpPr>
          <p:cNvPr id="52" name="Text 50"/>
          <p:cNvSpPr/>
          <p:nvPr/>
        </p:nvSpPr>
        <p:spPr>
          <a:xfrm>
            <a:off x="548640" y="3200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Most-Asked Questions for 10 LPA+ Roles</a:t>
            </a:r>
            <a:endParaRPr lang="en-US" sz="2000" dirty="0"/>
          </a:p>
        </p:txBody>
      </p:sp>
      <p:sp>
        <p:nvSpPr>
          <p:cNvPr id="53" name="Shape 51"/>
          <p:cNvSpPr/>
          <p:nvPr/>
        </p:nvSpPr>
        <p:spPr>
          <a:xfrm>
            <a:off x="548640" y="3886200"/>
            <a:ext cx="2011680" cy="0"/>
          </a:xfrm>
          <a:prstGeom prst="line">
            <a:avLst/>
          </a:prstGeom>
          <a:noFill/>
          <a:ln w="25400">
            <a:solidFill>
              <a:srgbClr val="00E5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 •  Memory  •  STL  •  Templates  •  Concurrency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864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 Deck for SDE-1 / SDE-2 Interviews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10 LPA level, interviewers expect more than syntax — they probe how well you understand memory, object lifetime, and the trade-offs behind language features. This deck walks through the core topics that show up again and again across product and service-based companies.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0180" y="292608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7" name="Text 5"/>
          <p:cNvSpPr/>
          <p:nvPr/>
        </p:nvSpPr>
        <p:spPr>
          <a:xfrm>
            <a:off x="144018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208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&amp; Design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inheritance, polymorphism, virtual dispatch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9272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10812" y="292608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210812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80" dirty="0"/>
          </a:p>
        </p:txBody>
      </p:sp>
      <p:sp>
        <p:nvSpPr>
          <p:cNvPr id="13" name="Text 11"/>
          <p:cNvSpPr/>
          <p:nvPr/>
        </p:nvSpPr>
        <p:spPr>
          <a:xfrm>
            <a:off x="3456432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02152" y="4297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Pointers, references, RAII, smart pointers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81444" y="292608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7" name="Text 15"/>
          <p:cNvSpPr/>
          <p:nvPr/>
        </p:nvSpPr>
        <p:spPr>
          <a:xfrm>
            <a:off x="6981444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6227064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 &amp; Templates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72784" y="4297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Containers, iterators, generic programming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860536" y="2606040"/>
            <a:ext cx="2514600" cy="265176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52076" y="2926080"/>
            <a:ext cx="731520" cy="73152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9752076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</a:t>
            </a:r>
            <a:endParaRPr lang="en-US" sz="2080" dirty="0"/>
          </a:p>
        </p:txBody>
      </p:sp>
      <p:sp>
        <p:nvSpPr>
          <p:cNvPr id="23" name="Text 21"/>
          <p:cNvSpPr/>
          <p:nvPr/>
        </p:nvSpPr>
        <p:spPr>
          <a:xfrm>
            <a:off x="8997696" y="38404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43416" y="4297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Threads, mutexes, race conditions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OOP Fundamentals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4 pillars of OOP in C++?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(bundling data &amp; methods), Abstraction (hiding implementation via interfaces), Inheritance (reusing base-class behavior), and Polymorphism (one interface, many forms via virtual functions or overloading).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overloading and overriding?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Overloading: same function name, different parameter lists, resolved at compile time. Overriding: derived class redefines a base class virtual function with the same signature, resolved at runtime.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pure virtual function?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virtual function declared with '= 0' and no body in the base class. It forces derived classes to implement it, making the base class abstract (cannot be instantiated).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constructor be virtual? Why or why not?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Virtual dispatch relies on the vtable, which is set up only once the object already exists — but the constructor's job is to create the object, so there is no vtable to consult yet.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Constructors, Destructors &amp; Copy Semantics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Rule of Three / Rule of Five?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class manages a resource and needs a custom destructor, copy constructor, or copy assignment operator, it usually needs all three (Rule of Three). Modern C++ extends this to move constructor and move assignment (Rule of Five).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copy vs shallow copy?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shallow copy copies member values as-is, so pointer members end up shared between objects. A deep copy allocates new memory and copies the pointed-to data, so each object owns independent resources.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base class destructors be virtual?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virtual destructor, deleting a derived object through a base class pointer only runs the base class destructor, leaking any derived-class resources — undefined behavior for polymorphic deletion.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copy constructor, and when is it called?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constructor that initializes an object using another object of the same class. It's invoked on pass-by-value, return-by-value, and explicit copy initialization like 'ClassName b = a;'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Pointers, References &amp;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causes a memory leak in C++?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memory with 'new' (or new[]) and losing the only pointer to it before calling 'delete' — for example, an early return, an exception, or overwriting the pointer. RAII and smart pointers prevent this by tying cleanup to object lifetime.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380390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dangling pointer?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49808" y="422452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that still holds the address of memory that has already been freed or gone out of scope. Dereferencing it is undefined behavior — a common source of hard-to-reproduce crashes.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68112" cy="4343400"/>
          </a:xfrm>
          <a:prstGeom prst="roundRect">
            <a:avLst>
              <a:gd name="adj" fmla="val 1684"/>
            </a:avLst>
          </a:prstGeom>
          <a:solidFill>
            <a:srgbClr val="0D1B2A"/>
          </a:solidFill>
          <a:ln/>
          <a:effectLst>
            <a:outerShdw sx="100000" sy="100000" kx="0" ky="0" algn="bl" rotWithShape="0" blurRad="76200" dist="25400" dir="5400000">
              <a:srgbClr val="1B2635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 vs Reference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03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null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Pointer: yes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6968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0" y="2816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reseated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30906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Pointer: yes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69680" y="30906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no, bound once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35295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dereference (*)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0" y="3803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Pointer: yes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69680" y="38039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no, used directly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0" y="424281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address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0" y="45171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Pointer: has its own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869680" y="45171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alias, no separate storage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0" y="49560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52303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Pointer: supported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869680" y="52303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not supported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Smart Pointers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C++ (C++11+) prefers RAII-based smart pointers over raw new/delete to make ownership explicit and automatic.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3520440" cy="109728"/>
          </a:xfrm>
          <a:prstGeom prst="rect">
            <a:avLst/>
          </a:prstGeom>
          <a:solidFill>
            <a:srgbClr val="00E5C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unique_ptr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ownership. Cannot be copied, only moved. Zero overhead vs a raw pointer. Default choice for single-owner resources.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103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2103120"/>
            <a:ext cx="3520440" cy="109728"/>
          </a:xfrm>
          <a:prstGeom prst="rect">
            <a:avLst/>
          </a:prstGeom>
          <a:solidFill>
            <a:srgbClr val="415A77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shared_ptr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9260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ownership via reference counting. The object is destroyed when the last shared_ptr pointing to it is destroyed or reset.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01584" y="2103120"/>
            <a:ext cx="35204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1584" y="2103120"/>
            <a:ext cx="3520440" cy="109728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5" name="Text 13"/>
          <p:cNvSpPr/>
          <p:nvPr/>
        </p:nvSpPr>
        <p:spPr>
          <a:xfrm>
            <a:off x="8330184" y="24231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weak_ptr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30184" y="2926080"/>
            <a:ext cx="3063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 reference to an object managed by shared_ptr. Used to break circular references that would otherwise leak memory.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follow-up: </a:t>
            </a:r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prefer smart pointers over raw pointers?" — Answer: automatic, exception-safe cleanup; ownership is explicit in the type; avoids leaks and dangling pointers.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Virtual Functions &amp; Polymorphism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runtime polymorphism work internally?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object of a class with virtual functions carries a hidden vptr pointing to a vtable — a static array of function pointers. A virtual call is resolved by looking up the function through this table at runtime, not at compile time.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function hiding vs overriding?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derived class defines a non-virtual function with the same name as a base class function (different or same signature), it hides the base version instead of overriding it — calls resolve based on the static (pointer) type, not the dynamic type.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diamond problem?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class inherits from two classes that share a common base, the derived class ends up with two copies of the base's members, causing ambiguity. C++ resolves this with virtual inheritance, which shares a single base subobject.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static function be virtual?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Virtual dispatch needs an object instance (via vptr) to resolve at runtime, but static functions belong to the class, not to any instance, so there's nothing to dispatch 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STL Deep Dive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Interviewers often ask you to justify container choice — know the underlying structure, not just the API.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3291840"/>
        </p:xfrm>
        <a:graphic>
          <a:graphicData uri="http://schemas.openxmlformats.org/drawingml/2006/table">
            <a:tbl>
              <a:tblPr/>
              <a:tblGrid>
                <a:gridCol w="1920240"/>
                <a:gridCol w="2651760"/>
                <a:gridCol w="2286000"/>
                <a:gridCol w="2651760"/>
                <a:gridCol w="1554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Container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Underlying Structure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Insert/Delete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Ordered?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635"/>
                          </a:solidFill>
                        </a:rPr>
                        <a:t>vector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Dynamic array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O(1) random access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O(n) middle, O(1) amortized at end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Insertion order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635"/>
                          </a:solidFill>
                        </a:rPr>
                        <a:t>list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Doubly linked list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O(n) sequential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O(1) anywhere (with iterator)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Insertion order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635"/>
                          </a:solidFill>
                        </a:rPr>
                        <a:t>map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Red-Black tree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O(log n)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O(log n)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Sorted by key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635"/>
                          </a:solidFill>
                        </a:rPr>
                        <a:t>unordered_map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Hash table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O(1) average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O(1) average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No order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635"/>
                          </a:solidFill>
                        </a:rPr>
                        <a:t>deque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Chunked array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O(1) random access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O(1) at both ends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9"/>
                          </a:solidFill>
                        </a:rPr>
                        <a:t>Insertion order</a:t>
                      </a:r>
                      <a:endParaRPr lang="en-US" sz="115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" y="5495544"/>
            <a:ext cx="106619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std::map vs std::unordered_map — when to pick which?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5916168"/>
            <a:ext cx="106619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map when you need sorted iteration or range queries (O(log n) guaranteed). Pick unordered_map for faster average-case lookups (O(1)) when order doesn't matter.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Templates &amp; Generic Programming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template specialization?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a custom implementation of a template for a specific type (full specialization) or a subset of types (partial specialization), overriding the generic version when that type is used.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templates and function overloading?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requires writing a separate function body per type. Templates generate type-specific code automatically at compile time from a single generic definition — less duplication, checked at instantiation.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variadic templates?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that accept an arbitrary number of arguments of arbitrary types using a parameter pack (Args...), commonly used to implement things like std::make_unique or printf-style functions type-safely.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SFINAE?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"Substitution Failure Is Not An Error" — when substituting a type into a template causes an invalid expression, the compiler silently removes that overload from consideration instead of erroring, enabling compile-time type introspection.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Exception Handling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exception safety, and what are its levels?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describes what a function guarantees if an exception is thrown. Basic guarantee: no leaks, valid state. Strong guarantee: operation either fully succeeds or has no effect (commit-or-rollback). No-throw guarantee: the operation never throws.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681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63624"/>
            <a:ext cx="5065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destructors never throw?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50657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destructor throws while another exception is already propagating (e.g., during stack unwinding), the program calls std::terminate. Since C++11, destructors are implicitly noexcept by default.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80390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stack unwinding?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22452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exception is thrown, the runtime destroys local objects in reverse order of construction as it walks back up the call stack, until a matching catch block is found — which is why RAII makes cleanup automatic.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657600"/>
            <a:ext cx="546811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803904"/>
            <a:ext cx="50657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by value, pointer, or reference?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224528"/>
            <a:ext cx="506577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by (const) reference. Catching by value causes an unnecessary copy and can slice derived exception objects; catching by pointer risks dangling pointers if the thrown object was temporary.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09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Multithreading &amp; Concurrency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race condition?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or more threads access shared data concurrently, at least one write, without synchronization — the outcome depends on unpredictable thread scheduling, producing inconsistent results.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73368" y="156362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std::mutex prevent race conditions?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3368" y="198424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ensures only one thread can hold the lock at a time; other threads attempting to lock() block until it's released, serializing access to the critical section it protects.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deadlock, and how do you avoid it?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threads wait forever for locks the others hold. Avoid it by always acquiring multiple locks in a consistent global order, or using std::lock()/std::scoped_lock to lock several mutexes atomically.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73368" y="3941064"/>
            <a:ext cx="4855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</a:t>
            </a:r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std::mutex and std::atomic?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73368" y="4361688"/>
            <a:ext cx="485546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protects a critical section of arbitrary code via locking. atomic provides lock-free (or internally locked) operations on a single variable without explicit locking, useful for simple counters and flags.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QUICK-FIRE 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More Questions to Have Ready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struct and class in C++?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'this' pointer, and when is it implicit?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name mangling, and why does C++ need it?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#define and const?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destructor of a base class important in polymorphism?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63640" y="1645920"/>
            <a:ext cx="5394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move semantics, and what problem does it solve?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std::move and std::forward?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lvalues and rvalues?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memory leak vs a dangling pointer?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difference between compile-time and link-time polymorphism.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1737360"/>
            <a:ext cx="0" cy="4114800"/>
          </a:xfrm>
          <a:prstGeom prst="line">
            <a:avLst/>
          </a:prstGeom>
          <a:noFill/>
          <a:ln w="12700">
            <a:solidFill>
              <a:srgbClr val="263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63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Tips to Crack the Interview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1848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trade-offs, not just definitions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10 LPA roles, interviewers want to hear WHY you'd choose vector over list, or shared_ptr over raw pointers — not just what they are.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73368" y="161848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6184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160020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through memory and ownership out loud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73368" y="224028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who owns what and when it's freed. This is exactly what separates junior from mid-level answers.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99592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at least one gotcha per topic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" y="4617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non-virtual destructors causing leaks, dangling references, slicing on catch-by-value. These follow-ups are common.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1B263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73368" y="3995928"/>
            <a:ext cx="457200" cy="45720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995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397764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writing code on a whiteboard/doc, not just an IDE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4617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errors won't save you live — practice writing correct syntax by hand for common patterns (singleton, RAII wrapper, custom iterator).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|  10 LPA Track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37160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160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37160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87452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87452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87452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87452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87452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87452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2" name="Shape 30"/>
          <p:cNvSpPr/>
          <p:nvPr/>
        </p:nvSpPr>
        <p:spPr>
          <a:xfrm>
            <a:off x="187452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3" name="Shape 31"/>
          <p:cNvSpPr/>
          <p:nvPr/>
        </p:nvSpPr>
        <p:spPr>
          <a:xfrm>
            <a:off x="187452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4" name="Shape 32"/>
          <p:cNvSpPr/>
          <p:nvPr/>
        </p:nvSpPr>
        <p:spPr>
          <a:xfrm>
            <a:off x="237744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5" name="Shape 33"/>
          <p:cNvSpPr/>
          <p:nvPr/>
        </p:nvSpPr>
        <p:spPr>
          <a:xfrm>
            <a:off x="237744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6" name="Shape 34"/>
          <p:cNvSpPr/>
          <p:nvPr/>
        </p:nvSpPr>
        <p:spPr>
          <a:xfrm>
            <a:off x="237744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7" name="Shape 35"/>
          <p:cNvSpPr/>
          <p:nvPr/>
        </p:nvSpPr>
        <p:spPr>
          <a:xfrm>
            <a:off x="237744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237744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39" name="Shape 37"/>
          <p:cNvSpPr/>
          <p:nvPr/>
        </p:nvSpPr>
        <p:spPr>
          <a:xfrm>
            <a:off x="237744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0" name="Shape 38"/>
          <p:cNvSpPr/>
          <p:nvPr/>
        </p:nvSpPr>
        <p:spPr>
          <a:xfrm>
            <a:off x="237744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1" name="Shape 39"/>
          <p:cNvSpPr/>
          <p:nvPr/>
        </p:nvSpPr>
        <p:spPr>
          <a:xfrm>
            <a:off x="237744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2" name="Shape 40"/>
          <p:cNvSpPr/>
          <p:nvPr/>
        </p:nvSpPr>
        <p:spPr>
          <a:xfrm>
            <a:off x="2880360" y="5486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3" name="Shape 41"/>
          <p:cNvSpPr/>
          <p:nvPr/>
        </p:nvSpPr>
        <p:spPr>
          <a:xfrm>
            <a:off x="2880360" y="10515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4" name="Shape 42"/>
          <p:cNvSpPr/>
          <p:nvPr/>
        </p:nvSpPr>
        <p:spPr>
          <a:xfrm>
            <a:off x="2880360" y="15544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5" name="Shape 43"/>
          <p:cNvSpPr/>
          <p:nvPr/>
        </p:nvSpPr>
        <p:spPr>
          <a:xfrm>
            <a:off x="2880360" y="205740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6" name="Shape 44"/>
          <p:cNvSpPr/>
          <p:nvPr/>
        </p:nvSpPr>
        <p:spPr>
          <a:xfrm>
            <a:off x="2880360" y="256032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7" name="Shape 45"/>
          <p:cNvSpPr/>
          <p:nvPr/>
        </p:nvSpPr>
        <p:spPr>
          <a:xfrm>
            <a:off x="2880360" y="306324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8" name="Shape 46"/>
          <p:cNvSpPr/>
          <p:nvPr/>
        </p:nvSpPr>
        <p:spPr>
          <a:xfrm>
            <a:off x="2880360" y="356616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49" name="Shape 47"/>
          <p:cNvSpPr/>
          <p:nvPr/>
        </p:nvSpPr>
        <p:spPr>
          <a:xfrm>
            <a:off x="2880360" y="4069080"/>
            <a:ext cx="54864" cy="54864"/>
          </a:xfrm>
          <a:prstGeom prst="ellipse">
            <a:avLst/>
          </a:prstGeom>
          <a:solidFill>
            <a:srgbClr val="1D3A4A"/>
          </a:solidFill>
          <a:ln/>
        </p:spPr>
      </p:sp>
      <p:sp>
        <p:nvSpPr>
          <p:cNvPr id="50" name="Text 48"/>
          <p:cNvSpPr/>
          <p:nvPr/>
        </p:nvSpPr>
        <p:spPr>
          <a:xfrm>
            <a:off x="2926080" y="237744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All the Best!</a:t>
            </a:r>
            <a:endParaRPr lang="en-US" sz="4000" dirty="0"/>
          </a:p>
        </p:txBody>
      </p:sp>
      <p:sp>
        <p:nvSpPr>
          <p:cNvPr id="51" name="Text 49"/>
          <p:cNvSpPr/>
          <p:nvPr/>
        </p:nvSpPr>
        <p:spPr>
          <a:xfrm>
            <a:off x="292608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0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the fundamentals, explain your reasoning clearly, and let your understanding of trade-offs do the talking.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2926080" y="4114800"/>
            <a:ext cx="2011680" cy="0"/>
          </a:xfrm>
          <a:prstGeom prst="line">
            <a:avLst/>
          </a:prstGeom>
          <a:noFill/>
          <a:ln w="25400">
            <a:solidFill>
              <a:srgbClr val="00E5C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2608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Interview Prep  •  10 LPA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2026-07-18T09:01:27Z</dcterms:created>
  <dcterms:modified xsi:type="dcterms:W3CDTF">2026-07-18T09:01:27Z</dcterms:modified>
</cp:coreProperties>
</file>